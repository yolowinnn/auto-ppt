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123950"/>
            <a:ext cx="109728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33400"/>
            <a:ext cx="11192256" cy="600075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Siemens PP-AI 项目周报 — W21 进展</a:t>
            </a:r>
            <a:endParaRPr lang="en-US" sz="1200" dirty="0"/>
          </a:p>
          <a:p>
            <a:pPr algn="l" indent="0" marL="0">
              <a:spcAft>
                <a:spcPts val="2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spcAft>
                <a:spcPts val="24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2026-W21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111922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本周交付：拉线识别模型 v2 上线、产线节拍验证完成、客户验收会准备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943100"/>
            <a:ext cx="107442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模型上线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：拉线方向识别 v2 已部署至 Copper 产线，准确率从 88.2% 提升至 94.7%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节拍验证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：现场单工位平均推理延迟 312ms，满足 &lt; 500ms 节拍要求，无丢帧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客户准备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：完成 12 页验收报告初稿，含 100 份图纸盲测结果与归因分析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风险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：边缘端模型缓存淘汰策略待优化，长时间运行内存占用偏高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6496050"/>
            <a:ext cx="29779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demo/output/wire_length_list.csv · summary.json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022407" y="6496050"/>
            <a:ext cx="2611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Copyright @ TaomoAI 2026. Business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123950"/>
            <a:ext cx="109728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33400"/>
            <a:ext cx="11192256" cy="600075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Copper 产线本周关键指标</a:t>
            </a:r>
            <a:endParaRPr lang="en-US" sz="1200" dirty="0"/>
          </a:p>
          <a:p>
            <a:pPr algn="l" indent="0" marL="0">
              <a:spcAft>
                <a:spcPts val="2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spcAft>
                <a:spcPts val="24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· 2026-05-26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111922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三条核心指标全部达标，准确率突破 95%，延迟稳定低于客户要求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943100"/>
            <a:ext cx="3505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8200" y="1962150"/>
            <a:ext cx="3048000" cy="0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0038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8200" y="3529012"/>
            <a:ext cx="304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363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1943100"/>
            <a:ext cx="3575304" cy="1590675"/>
          </a:xfrm>
          <a:prstGeom prst="rect">
            <a:avLst/>
          </a:prstGeom>
          <a:noFill/>
          <a:ln/>
        </p:spPr>
        <p:txBody>
          <a:bodyPr wrap="square" lIns="228600" tIns="266700" rIns="228600" bIns="26670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94.7%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拉线识别准确率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上周 88.2% · +6.5pp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943100"/>
            <a:ext cx="3505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0" y="1962150"/>
            <a:ext cx="3048000" cy="0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43838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529012"/>
            <a:ext cx="304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8163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943100"/>
            <a:ext cx="3575304" cy="1590675"/>
          </a:xfrm>
          <a:prstGeom prst="rect">
            <a:avLst/>
          </a:prstGeom>
          <a:noFill/>
          <a:ln/>
        </p:spPr>
        <p:txBody>
          <a:bodyPr wrap="square" lIns="228600" tIns="266700" rIns="228600" bIns="26670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312</a:t>
            </a:r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单工位推理延迟 (p50)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要求 &lt; 500ms · 通过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77200" y="1943100"/>
            <a:ext cx="3505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305800" y="1962150"/>
            <a:ext cx="3048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77638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05800" y="3529012"/>
            <a:ext cx="304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1963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7200" y="1943100"/>
            <a:ext cx="3575304" cy="1590675"/>
          </a:xfrm>
          <a:prstGeom prst="rect">
            <a:avLst/>
          </a:prstGeom>
          <a:noFill/>
          <a:ln/>
        </p:spPr>
        <p:txBody>
          <a:bodyPr wrap="square" lIns="228600" tIns="266700" rIns="228600" bIns="26670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1.8</a:t>
            </a:r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边缘端峰值内存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下周需优化缓存策略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3838575"/>
            <a:ext cx="1119225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说明：所有指标来自 5/19–5/25 真实生产数据；准确率基于 100 份盲测图纸；延迟为单帧端到端耗时 p50。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6467475"/>
            <a:ext cx="25828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100-图纸识别模型综合评估报告-0330.pdf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22407" y="6467475"/>
            <a:ext cx="2611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Copyright @ TaomoAI 2026. Business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4E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var/folders/7j/t9vsd2f95035z6k2g1rwqfdw0000gn/T/html2pptx-14pKGy/html2pptx-bg-1779783914758-1dba3fc9278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77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0650" y="609600"/>
            <a:ext cx="490480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IndustrialMind AI · 季度成果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62000" y="1257300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500" dirty="0">
                <a:solidFill>
                  <a:srgbClr val="D1FA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三大核心能力进入生产部署，客户验收节点全部按时完成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2000" y="1905000"/>
            <a:ext cx="5295900" cy="2219325"/>
          </a:xfrm>
          <a:prstGeom prst="roundRect">
            <a:avLst>
              <a:gd name="adj" fmla="val 6867"/>
            </a:avLst>
          </a:prstGeom>
          <a:solidFill>
            <a:srgbClr val="065F46"/>
          </a:solidFill>
          <a:ln w="9525">
            <a:solidFill>
              <a:srgbClr val="047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1525" y="1914525"/>
            <a:ext cx="5276850" cy="381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var/folders/7j/t9vsd2f95035z6k2g1rwqfdw0000gn/T/html2pptx-14pKGy/html2pptx-bg-1779783914799-9d3ce751235f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219325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5425" y="2247900"/>
            <a:ext cx="14961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视觉检测准确率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38225" y="2714625"/>
            <a:ext cx="483831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7F3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拉线方向识别 94.7%、装配异常检出 91.2%；两条产线累计运行 480 小时无误报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38225" y="3571875"/>
            <a:ext cx="1034653" cy="276225"/>
          </a:xfrm>
          <a:prstGeom prst="roundRect">
            <a:avLst>
              <a:gd name="adj" fmla="val 3444828"/>
            </a:avLst>
          </a:prstGeom>
          <a:solidFill>
            <a:srgbClr val="064E3B"/>
          </a:solidFill>
          <a:ln w="9525">
            <a:solidFill>
              <a:srgbClr val="34D399"/>
            </a:solidFill>
          </a:ln>
        </p:spPr>
        <p:txBody>
          <a:bodyPr wrap="square" lIns="133350" tIns="57150" rIns="133350" bIns="57150" rtlCol="0" anchor="ctr"/>
          <a:lstStyle/>
          <a:p>
            <a:pPr algn="l" indent="0" marL="0">
              <a:spcBef>
                <a:spcPts val="1050"/>
              </a:spcBef>
              <a:buNone/>
            </a:pPr>
            <a:r>
              <a:rPr lang="en-US" sz="975" dirty="0">
                <a:solidFill>
                  <a:srgbClr val="6EE7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+6.5pp vs Q1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6286500" y="1905000"/>
            <a:ext cx="5295900" cy="2219325"/>
          </a:xfrm>
          <a:prstGeom prst="roundRect">
            <a:avLst>
              <a:gd name="adj" fmla="val 6867"/>
            </a:avLst>
          </a:prstGeom>
          <a:solidFill>
            <a:srgbClr val="065F46"/>
          </a:solidFill>
          <a:ln w="9525">
            <a:solidFill>
              <a:srgbClr val="047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296025" y="1914525"/>
            <a:ext cx="5276850" cy="381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7j/t9vsd2f95035z6k2g1rwqfdw0000gn/T/html2pptx-14pKGy/html2pptx-bg-1779783914835-05add7a33102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219325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19925" y="2247900"/>
            <a:ext cx="1282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实时推理延迟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562725" y="2714625"/>
            <a:ext cx="483831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7F3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边缘端 p50 312ms / p95 480ms，稳定低于客户 500ms 节拍要求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62725" y="3571875"/>
            <a:ext cx="977205" cy="276225"/>
          </a:xfrm>
          <a:prstGeom prst="roundRect">
            <a:avLst>
              <a:gd name="adj" fmla="val 3444828"/>
            </a:avLst>
          </a:prstGeom>
          <a:solidFill>
            <a:srgbClr val="064E3B"/>
          </a:solidFill>
          <a:ln w="9525">
            <a:solidFill>
              <a:srgbClr val="34D399"/>
            </a:solidFill>
          </a:ln>
        </p:spPr>
        <p:txBody>
          <a:bodyPr wrap="square" lIns="133350" tIns="57150" rIns="133350" bIns="57150" rtlCol="0" anchor="ctr"/>
          <a:lstStyle/>
          <a:p>
            <a:pPr algn="l" indent="0" marL="0">
              <a:spcBef>
                <a:spcPts val="1050"/>
              </a:spcBef>
              <a:buNone/>
            </a:pPr>
            <a:r>
              <a:rPr lang="en-US" sz="975" dirty="0">
                <a:solidFill>
                  <a:srgbClr val="6EE7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−38% vs Q1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653796" y="6457950"/>
            <a:ext cx="110368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IndustrialMind AI · All Rights Reserved ·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152525"/>
            <a:ext cx="109728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61975"/>
            <a:ext cx="47404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视觉检测模型 v1 → v2 关键指标对比</a:t>
            </a:r>
            <a:endParaRPr lang="en-US" sz="2250" dirty="0"/>
          </a:p>
        </p:txBody>
      </p:sp>
      <p:pic>
        <p:nvPicPr>
          <p:cNvPr id="4" name="Image 0" descr="/var/folders/7j/t9vsd2f95035z6k2g1rwqfdw0000gn/T/html2pptx-G5J9Ll/html2pptx-bg-1779783915436-0c47a6b1a6c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995" y="533400"/>
            <a:ext cx="907405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466850"/>
            <a:ext cx="111922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在同一批 100 份盲测图纸上，v2 在准确率、召回率、推理延迟三项均有改善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1971675"/>
            <a:ext cx="5334000" cy="2867025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38200" y="1990725"/>
            <a:ext cx="48768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38838" y="2200275"/>
            <a:ext cx="0" cy="240982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8200" y="4833938"/>
            <a:ext cx="4876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363" y="2200275"/>
            <a:ext cx="0" cy="240982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725" y="2238375"/>
            <a:ext cx="49549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 (2026-Q1)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7725" y="2628900"/>
          <a:ext cx="9144000" cy="914400"/>
        </p:xfrm>
        <a:graphic>
          <a:graphicData uri="http://schemas.openxmlformats.org/drawingml/2006/table">
            <a:tbl>
              <a:tblPr/>
              <a:tblGrid>
                <a:gridCol w="2656582"/>
                <a:gridCol w="2201168"/>
              </a:tblGrid>
              <a:tr h="367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97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数值</a:t>
                      </a:r>
                      <a:endParaRPr lang="en-US" sz="97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准确率</a:t>
                      </a:r>
                      <a:endParaRPr lang="en-US" sz="112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88.2%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召回率</a:t>
                      </a:r>
                      <a:endParaRPr lang="en-US" sz="112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83.5%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p50 延迟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504ms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峰值内存</a:t>
                      </a:r>
                      <a:endParaRPr lang="en-US" sz="112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2.1 GB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248400" y="1971675"/>
            <a:ext cx="5334000" cy="2867025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477000" y="1990725"/>
            <a:ext cx="4876800" cy="0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577637" y="2200275"/>
            <a:ext cx="0" cy="240982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7000" y="4833938"/>
            <a:ext cx="4876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53162" y="2200275"/>
            <a:ext cx="0" cy="240982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86525" y="2238375"/>
            <a:ext cx="49549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 (2026-Q2)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6525" y="2628900"/>
          <a:ext cx="9144000" cy="914400"/>
        </p:xfrm>
        <a:graphic>
          <a:graphicData uri="http://schemas.openxmlformats.org/drawingml/2006/table">
            <a:tbl>
              <a:tblPr/>
              <a:tblGrid>
                <a:gridCol w="2341215"/>
                <a:gridCol w="2516535"/>
              </a:tblGrid>
              <a:tr h="367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97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数值</a:t>
                      </a:r>
                      <a:endParaRPr lang="en-US" sz="97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准确率</a:t>
                      </a:r>
                      <a:endParaRPr lang="en-US" sz="112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478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94.7% ▲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召回率</a:t>
                      </a:r>
                      <a:endParaRPr lang="en-US" sz="112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478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91.2% ▲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p50 延迟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4785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312ms ▼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峰值内存</a:t>
                      </a:r>
                      <a:endParaRPr lang="en-US" sz="1125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1.8 GB</a:t>
                      </a:r>
                      <a:endParaRPr lang="en-US" sz="112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609600" y="6467475"/>
            <a:ext cx="38954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demo/output/wire_length_list.csv · 100-图纸识别模型综合评估报告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313640" y="6467475"/>
            <a:ext cx="12941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IndustrialMind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2026-05-26T08:25:15Z</dcterms:created>
  <dcterms:modified xsi:type="dcterms:W3CDTF">2026-05-26T08:25:15Z</dcterms:modified>
</cp:coreProperties>
</file>